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72" r:id="rId22"/>
    <p:sldId id="273" r:id="rId23"/>
    <p:sldId id="270" r:id="rId8"/>
    <p:sldId id="274" r:id="rId24"/>
    <p:sldId id="275" r:id="rId25"/>
    <p:sldId id="276" r:id="rId26"/>
    <p:sldId id="277" r:id="rId27"/>
    <p:sldId id="278" r:id="rId28"/>
  </p:sldIdLst>
  <p:sldSz cx="12192000" cy="6858000"/>
  <p:notesSz cx="7010400" cy="92964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šper Slapničar" initials="GS" lastIdx="1" clrIdx="0">
    <p:extLst>
      <p:ext uri="{19B8F6BF-5375-455C-9EA6-DF929625EA0E}">
        <p15:presenceInfo xmlns:p15="http://schemas.microsoft.com/office/powerpoint/2012/main" userId="05379f236a65e358" providerId="Windows Live"/>
      </p:ext>
    </p:extLst>
  </p:cmAuthor>
  <p:cmAuthor id="2" name="Tomi Božak" initials="TB" lastIdx="2" clrIdx="1">
    <p:extLst>
      <p:ext uri="{19B8F6BF-5375-455C-9EA6-DF929625EA0E}">
        <p15:presenceInfo xmlns:p15="http://schemas.microsoft.com/office/powerpoint/2012/main" userId="a70c56096e10a8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E8"/>
    <a:srgbClr val="B5E61D"/>
    <a:srgbClr val="3F48CC"/>
    <a:srgbClr val="22B14C"/>
    <a:srgbClr val="4DA2DB"/>
    <a:srgbClr val="FFFFFF"/>
    <a:srgbClr val="E1CCF0"/>
    <a:srgbClr val="FBE5D6"/>
    <a:srgbClr val="E2F0D9"/>
    <a:srgbClr val="6EB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0" autoAdjust="0"/>
    <p:restoredTop sz="88538" autoAdjust="0"/>
  </p:normalViewPr>
  <p:slideViewPr>
    <p:cSldViewPr snapToGrid="0">
      <p:cViewPr varScale="1">
        <p:scale>
          <a:sx n="140" d="100"/>
          <a:sy n="140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8" Type="http://schemas.openxmlformats.org/officeDocument/2006/relationships/slide" Target="slides/slide4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Handcrafted</c:v>
                </c:pt>
                <c:pt idx="2">
                  <c:v>GazeMAE</c:v>
                </c:pt>
                <c:pt idx="3">
                  <c:v>MOMENT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0.536</c:v>
                </c:pt>
                <c:pt idx="1">
                  <c:v>0.508</c:v>
                </c:pt>
                <c:pt idx="2">
                  <c:v>0.51</c:v>
                </c:pt>
                <c:pt idx="3">
                  <c:v>0.501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</c:v>
                </c:pt>
              </c:strCache>
            </c:strRef>
          </c:tx>
          <c:spPr>
            <a:solidFill>
              <a:srgbClr val="F4B142"/>
            </a:solidFill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Handcrafted</c:v>
                </c:pt>
                <c:pt idx="2">
                  <c:v>GazeMAE</c:v>
                </c:pt>
                <c:pt idx="3">
                  <c:v>MOMENT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0.534</c:v>
                </c:pt>
                <c:pt idx="1">
                  <c:v>0.521</c:v>
                </c:pt>
                <c:pt idx="2">
                  <c:v>0.505</c:v>
                </c:pt>
                <c:pt idx="3">
                  <c:v>0.497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600"/>
            </a:pPr>
          </a:p>
        </c:txPr>
        <c:crossAx val="-2113994440"/>
        <c:crossesAt val="0.5"/>
        <c:auto val="1"/>
        <c:lblAlgn val="ctr"/>
        <c:lblOffset val="100"/>
        <c:noMultiLvlLbl val="0"/>
      </c:catAx>
      <c:valAx>
        <c:axId val="-2113994440"/>
        <c:scaling>
          <c:max val="0.56"/>
          <c:min val="0.46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/>
                  <a:t>Balanced accuracy (chance = 0.5)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068027336"/>
        <c:crosses val="autoZero"/>
        <c:majorUnit val="0.02"/>
      </c:valAx>
    </c:plotArea>
    <c:legend>
      <c:legendPos val="t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38DCA-EEFF-436A-85B2-CA47C6CC7911}" type="datetimeFigureOut">
              <a:rPr lang="en-SI" smtClean="0"/>
              <a:t>7. 10. 24</a:t>
            </a:fld>
            <a:endParaRPr lang="en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DCEDE-ACAE-47EA-86E5-B03085C74774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55125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Thank the chair; I'm Tomi Božak from the Department of Intelligent Systems, JSI.</a:t>
            </a:r>
          </a:p>
          <a:p>
            <a:r>
              <a:t>- Joint work with Zoja Anžur and Gašper Slapničar.</a:t>
            </a:r>
          </a:p>
          <a:p>
            <a:r>
              <a:t>- Topic: which way of representing eye-tracking data works best for predicting engagement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DCEDE-ACAE-47EA-86E5-B03085C74774}" type="slidenum">
              <a:rPr lang="en-SI" smtClean="0"/>
              <a:t>1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790769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Engagement (immersion in work) changes during the day; application logs show little of it.</a:t>
            </a:r>
          </a:p>
          <a:p>
            <a:r>
              <a:t>- A screen-mounted eye tracker records gaze and pupil size continuously, without the user doing anything.</a:t>
            </a:r>
          </a:p>
          <a:p>
            <a:r>
              <a:t>- Before training any model we must choose how to represent a window of gaze data.</a:t>
            </a:r>
          </a:p>
          <a:p>
            <a:r>
              <a:t>- Options: raw signal, handcrafted features, or embeddings from pretrained models.</a:t>
            </a:r>
          </a:p>
          <a:p>
            <a:r>
              <a:t>- Published results use different data, labels and splits, so they can't be compared directly — that's our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DCEDE-ACAE-47EA-86E5-B03085C74774}" type="slidenum">
              <a:rPr lang="en-SI" smtClean="0"/>
              <a:t>2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26338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Recordings cut into 3-second windows with 25 % overlap; windows with too much tracking loss removed → about 140 thousand windows.</a:t>
            </a:r>
          </a:p>
          <a:p>
            <a:r>
              <a:t>- Ratings differ a lot between people (means 2.2–4.9), so an absolute threshold would mostly learn who the person is.</a:t>
            </a:r>
          </a:p>
          <a:p>
            <a:r>
              <a:t>- So we centre ratings per participant and predict above vs. below their own mean.</a:t>
            </a:r>
          </a:p>
          <a:p>
            <a:r>
              <a:t>- For the test participant we use the average of the training participants' means — no test labels leak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09E5A3-AFE8-4850-8D09-4F41713326AC}" type="slidenum">
              <a:rPr lang="en-SI" smtClean="0"/>
              <a:t>4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28503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Every model sees the same 3-second windows: pupil size (L/R), gaze x/y, eye–screen distance.</a:t>
            </a:r>
          </a:p>
          <a:p>
            <a:r>
              <a:t>- Raw: the signal itself, resampled and flattened — no domain knowledge.</a:t>
            </a:r>
          </a:p>
          <a:p>
            <a:r>
              <a:t>- Handcrafted: blinks, fixations, saccades, pupil statistics — interpretable, from our earlier work.</a:t>
            </a:r>
          </a:p>
          <a:p>
            <a:r>
              <a:t>- GazeMAE: pretrained on eye-tracking data; MOMENT: general time-series foundation model. Both used frozen, out of the box.</a:t>
            </a:r>
          </a:p>
          <a:p>
            <a:r>
              <a:t>- On top: the same classifiers — random forest and an MLP.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Real-world data: knowledge workers recorded at their own desks during normal workdays.</a:t>
            </a:r>
          </a:p>
          <a:p>
            <a:r>
              <a:t>- 17 participants, 657 full workdays; eye tracker at 60 Hz.</a:t>
            </a:r>
          </a:p>
          <a:p>
            <a:r>
              <a:t>- Several times a day they answered a short questionnaire; our target: “Right now I am immersed in my work”, 0–6.</a:t>
            </a:r>
          </a:p>
          <a:p>
            <a:r>
              <a:t>- Each answer labels the 15 minutes before it.</a:t>
            </a:r>
          </a:p>
          <a:p>
            <a:r>
              <a:t>- Left plot: gaze mostly in the screen centre. Right: ratings; red ticks show each participant's mean — very different between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Three predictors on every representation: majority baseline, random forest and an MLP.</a:t>
            </a:r>
          </a:p>
          <a:p>
            <a:r>
              <a:t>- Leave-one-subject-out: train on 16 people (green), test on the one left out (orange); repeat 17 times.</a:t>
            </a:r>
          </a:p>
          <a:p>
            <a:r>
              <a:t>- Imputation, scaling and feature selection are fitted on training people only — no leakage.</a:t>
            </a:r>
          </a:p>
          <a:p>
            <a:r>
              <a:t>- Main measure is balanced accuracy, because class balance differs per person; chance is always 0.5.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Bars start at 0.5 = chance; above the line is better than guessing.</a:t>
            </a:r>
          </a:p>
          <a:p>
            <a:r>
              <a:t>- Raw signal is best with both classifiers: 0.536 with random forest, 0.534 with MLP (best AUC 0.553).</a:t>
            </a:r>
          </a:p>
          <a:p>
            <a:r>
              <a:t>- Handcrafted next (0.521 with MLP); GazeMAE just above chance; MOMENT at chance.</a:t>
            </a:r>
          </a:p>
          <a:p>
            <a:r>
              <a:t>- Honest part: everything is close to chance, and the spread across participants (SD 0.075) is bigger than the differences.</a:t>
            </a:r>
          </a:p>
          <a:p>
            <a:r>
              <a:t>- Full table with all metrics on the backup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Same four representations projected to 2-D.</a:t>
            </a:r>
          </a:p>
          <a:p>
            <a:r>
              <a:t>- Top row coloured by engagement rating: no region follows engagement in any representation.</a:t>
            </a:r>
          </a:p>
          <a:p>
            <a:r>
              <a:t>- Bottom row coloured by participant: clear clusters in raw, weaker in handcrafted and GazeMAE, almost none in MOMENT.</a:t>
            </a:r>
          </a:p>
          <a:p>
            <a:r>
              <a:t>- So the strongest signal in gaze is who the person is, not how engaged they are — this is why testing on unseen people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Under a fair, subject-disjoint comparison, the simplest input — raw signal — gave the best result; handcrafted close behind.</a:t>
            </a:r>
          </a:p>
          <a:p>
            <a:r>
              <a:t>- Frozen pretrained encoders did not help: likely a mismatch — trained on lab eye-tracking or generic time series, not day-long office gaze.</a:t>
            </a:r>
          </a:p>
          <a:p>
            <a:r>
              <a:t>- Predicting engagement in new people from 3-s windows in real office work is hard.</a:t>
            </a:r>
          </a:p>
          <a:p>
            <a:r>
              <a:t>- Practical advice: start with raw or handcrafted features; don't expect a frozen encoder to help.</a:t>
            </a:r>
          </a:p>
          <a:p>
            <a:r>
              <a:t>- Next: fine-tune the encoders, personalise to new users, try longer windows.</a:t>
            </a:r>
          </a:p>
          <a:p>
            <a:r>
              <a:t>-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Only if asked. Paper Table 1.</a:t>
            </a:r>
          </a:p>
          <a:p>
            <a:r>
              <a:t>- GazeMAE RF has good plain accuracy (.540), but plain accuracy partly reflects each person's class balance — that's why balanced accuracy is primary.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99DA-C255-3D49-8941-A2118A341ABD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9505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2B2A3-FC1F-4545-A52D-6277B0961E9A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  <p:pic>
        <p:nvPicPr>
          <p:cNvPr id="8" name="Picture 2" descr="SPONZORJI – IS2022">
            <a:extLst>
              <a:ext uri="{FF2B5EF4-FFF2-40B4-BE49-F238E27FC236}">
                <a16:creationId xmlns:a16="http://schemas.microsoft.com/office/drawing/2014/main" id="{4B5668FD-70F5-4910-8C88-00D8A0E0EA4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5" t="30728" r="15183" b="32824"/>
          <a:stretch/>
        </p:blipFill>
        <p:spPr bwMode="auto">
          <a:xfrm>
            <a:off x="971533" y="6328886"/>
            <a:ext cx="1371600" cy="50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ontact">
            <a:extLst>
              <a:ext uri="{FF2B5EF4-FFF2-40B4-BE49-F238E27FC236}">
                <a16:creationId xmlns:a16="http://schemas.microsoft.com/office/drawing/2014/main" id="{EEE5AD97-106F-4507-B9A5-FE0CCB0346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606" y="6338887"/>
            <a:ext cx="1552194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eave">
            <a:extLst>
              <a:ext uri="{FF2B5EF4-FFF2-40B4-BE49-F238E27FC236}">
                <a16:creationId xmlns:a16="http://schemas.microsoft.com/office/drawing/2014/main" id="{9AA23E6F-4154-6291-F147-BCB7E59CB7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7" t="14104" r="4651" b="15903"/>
          <a:stretch/>
        </p:blipFill>
        <p:spPr bwMode="auto">
          <a:xfrm>
            <a:off x="3625087" y="6216787"/>
            <a:ext cx="1748246" cy="61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SI Università della Svizzera italiana, Switzerland | Study.eu">
            <a:extLst>
              <a:ext uri="{FF2B5EF4-FFF2-40B4-BE49-F238E27FC236}">
                <a16:creationId xmlns:a16="http://schemas.microsoft.com/office/drawing/2014/main" id="{664BF1DE-B4B5-2201-7325-28B1F083F14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25"/>
          <a:stretch/>
        </p:blipFill>
        <p:spPr bwMode="auto">
          <a:xfrm>
            <a:off x="7634786" y="6303544"/>
            <a:ext cx="1037227" cy="491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389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D212B-50AA-7A4D-B5A8-9C541A502B5B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4535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57BAF-636F-CB48-9745-0C94CDDCFF8D}" type="datetime1">
              <a:rPr lang="en-US" smtClean="0"/>
              <a:t>10/7/24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78234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C66B-4004-814B-BB67-C2FD29E076BA}" type="datetime1">
              <a:rPr lang="en-US" smtClean="0"/>
              <a:t>10/7/24</a:t>
            </a:fld>
            <a:endParaRPr lang="sl-S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75499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D388-10DC-F145-9323-3AA839706852}" type="datetime1">
              <a:rPr lang="en-US" smtClean="0"/>
              <a:t>10/7/24</a:t>
            </a:fld>
            <a:endParaRPr lang="sl-S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7436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FC0B-8FD2-F948-BC47-59C18BA6AFF8}" type="datetime1">
              <a:rPr lang="en-US" smtClean="0"/>
              <a:t>10/7/24</a:t>
            </a:fld>
            <a:endParaRPr lang="sl-S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7463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1CD84-E07C-674F-A57D-A9ED547502C0}" type="datetime1">
              <a:rPr lang="en-US" smtClean="0"/>
              <a:t>10/7/24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06248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5F03-0828-7445-8AA2-A66ED77A04FE}" type="datetime1">
              <a:rPr lang="en-US" smtClean="0"/>
              <a:t>10/7/24</a:t>
            </a:fld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0430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5596A-5DD1-7040-AAB3-264C3E4F30C3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7932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D255D-139A-D34C-9B6C-4AB9BED53172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002760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272C5-37D7-4F40-BF65-A56269D58100}" type="datetime1">
              <a:rPr lang="en-US" smtClean="0"/>
              <a:t>10/7/24</a:t>
            </a:fld>
            <a:endParaRPr lang="sl-S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F0732-9705-4479-BAD8-1E2D4C77D4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36272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864" y="2379816"/>
            <a:ext cx="11162271" cy="143717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+mn-lt"/>
              </a:rPr>
              <a:t>Comparison of Eye-Tracking Representations for Engagement Inference in Knowledge Workers</a:t>
            </a:r>
            <a:endParaRPr lang="sl-SI" sz="5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6294" y="3955805"/>
            <a:ext cx="8136768" cy="1956263"/>
          </a:xfrm>
        </p:spPr>
        <p:txBody>
          <a:bodyPr>
            <a:noAutofit/>
          </a:bodyPr>
          <a:lstStyle/>
          <a:p>
            <a:pPr algn="l"/>
            <a:r>
              <a:rPr lang="en-US" sz="3500" dirty="0"/>
              <a:t>Department of Intelligent Systems (E9)</a:t>
            </a:r>
          </a:p>
          <a:p>
            <a:pPr algn="l"/>
            <a:r>
              <a:rPr lang="en-US" sz="3500" b="1" dirty="0" err="1"/>
              <a:t>Jožef</a:t>
            </a:r>
            <a:r>
              <a:rPr lang="en-US" sz="3500" b="1" dirty="0"/>
              <a:t> Stefan Institute</a:t>
            </a:r>
          </a:p>
          <a:p>
            <a:pPr algn="l"/>
            <a:r>
              <a:rPr lang="en-US" i="1" u="sng" dirty="0"/>
              <a:t>Tomi Božak</a:t>
            </a:r>
            <a:r>
              <a:rPr lang="en-US" i="1" dirty="0"/>
              <a:t>, </a:t>
            </a:r>
            <a:r>
              <a:rPr lang="en-US" i="1" dirty="0" err="1"/>
              <a:t>Zoja</a:t>
            </a:r>
            <a:r>
              <a:rPr lang="en-US" i="1" dirty="0"/>
              <a:t> </a:t>
            </a:r>
            <a:r>
              <a:rPr lang="en-US" i="1" dirty="0" err="1"/>
              <a:t>Anžur</a:t>
            </a:r>
            <a:r>
              <a:rPr lang="en-US" i="1" dirty="0"/>
              <a:t> and </a:t>
            </a:r>
            <a:r>
              <a:rPr lang="en-US" i="1" dirty="0" err="1"/>
              <a:t>Gašper</a:t>
            </a:r>
            <a:r>
              <a:rPr lang="en-US" i="1" dirty="0"/>
              <a:t> </a:t>
            </a:r>
            <a:r>
              <a:rPr lang="en-US" i="1" dirty="0" err="1"/>
              <a:t>Slapničar</a:t>
            </a:r>
            <a:endParaRPr lang="en-US" i="1" u="sng" dirty="0"/>
          </a:p>
          <a:p>
            <a:pPr algn="l"/>
            <a:endParaRPr lang="en-US" sz="3200" dirty="0"/>
          </a:p>
        </p:txBody>
      </p:sp>
      <p:pic>
        <p:nvPicPr>
          <p:cNvPr id="13" name="Picture 2" descr="SPONZORJI – IS2022">
            <a:extLst>
              <a:ext uri="{FF2B5EF4-FFF2-40B4-BE49-F238E27FC236}">
                <a16:creationId xmlns:a16="http://schemas.microsoft.com/office/drawing/2014/main" id="{F2030619-EE93-41C8-B43C-477E017AA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5" t="30728" r="15183" b="32824"/>
          <a:stretch/>
        </p:blipFill>
        <p:spPr bwMode="auto">
          <a:xfrm>
            <a:off x="1965533" y="4033001"/>
            <a:ext cx="1226075" cy="454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Contact">
            <a:extLst>
              <a:ext uri="{FF2B5EF4-FFF2-40B4-BE49-F238E27FC236}">
                <a16:creationId xmlns:a16="http://schemas.microsoft.com/office/drawing/2014/main" id="{9EF854AB-4B38-4717-ACE2-94625F225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721" y="4652500"/>
            <a:ext cx="1387508" cy="357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69A1D99E-C72A-4951-9573-233A75027AC7}"/>
              </a:ext>
            </a:extLst>
          </p:cNvPr>
          <p:cNvSpPr txBox="1">
            <a:spLocks/>
          </p:cNvSpPr>
          <p:nvPr/>
        </p:nvSpPr>
        <p:spPr>
          <a:xfrm>
            <a:off x="9610991" y="6306176"/>
            <a:ext cx="3764141" cy="5518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2000" i="1" dirty="0"/>
              <a:t>SKUI 2026,</a:t>
            </a:r>
          </a:p>
          <a:p>
            <a:pPr algn="l">
              <a:lnSpc>
                <a:spcPct val="50000"/>
              </a:lnSpc>
            </a:pPr>
            <a:r>
              <a:rPr lang="en-US" sz="2000" i="1" dirty="0"/>
              <a:t>October 2026, Ljubljana</a:t>
            </a:r>
          </a:p>
        </p:txBody>
      </p:sp>
    </p:spTree>
    <p:extLst>
      <p:ext uri="{BB962C8B-B14F-4D97-AF65-F5344CB8AC3E}">
        <p14:creationId xmlns:p14="http://schemas.microsoft.com/office/powerpoint/2010/main" val="421429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D7C-ADE3-B51E-813E-F37034CB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Introduction</a:t>
            </a:r>
            <a:endParaRPr lang="en-SI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F26D-31DB-8055-DD76-A9F065ACD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8942" cy="4667250"/>
          </a:xfrm>
        </p:spPr>
        <p:txBody>
          <a:bodyPr>
            <a:normAutofit/>
          </a:bodyPr>
          <a:lstStyle/>
          <a:p>
            <a:pPr/>
            <a:r>
              <a:rPr sz="2400"/>
              <a:t>Momentary engagement of knowledge workers</a:t>
            </a:r>
          </a:p>
          <a:p>
            <a:pPr lvl="1"/>
            <a:r>
              <a:rPr sz="2000"/>
              <a:t>Changes during the day, hard to see in logs</a:t>
            </a:r>
          </a:p>
          <a:p>
            <a:pPr/>
            <a:r>
              <a:rPr sz="2400"/>
              <a:t>Eye tracking: continuous and contact-free</a:t>
            </a:r>
          </a:p>
          <a:p>
            <a:pPr/>
            <a:r>
              <a:rPr sz="2400"/>
              <a:t>How to represent a gaze window?</a:t>
            </a:r>
          </a:p>
          <a:p>
            <a:pPr lvl="1"/>
            <a:r>
              <a:rPr sz="2000"/>
              <a:t>Raw signal, handcrafted features or pretrained embeddings</a:t>
            </a:r>
          </a:p>
          <a:p>
            <a:pPr lvl="1"/>
            <a:r>
              <a:rPr sz="2000"/>
              <a:t>Rarely compared under the same conditions</a:t>
            </a:r>
          </a:p>
        </p:txBody>
      </p:sp>
      <p:pic>
        <p:nvPicPr>
          <p:cNvPr id="1028" name="Picture 4" descr="Enter the world of eye tracking with Tobii Pro Spark - Tobii">
            <a:extLst>
              <a:ext uri="{FF2B5EF4-FFF2-40B4-BE49-F238E27FC236}">
                <a16:creationId xmlns:a16="http://schemas.microsoft.com/office/drawing/2014/main" id="{8DEFAE8F-EE02-4A5A-B41C-C468AD75F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554" y="2198978"/>
            <a:ext cx="4207406" cy="192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B678581-71C3-4A40-B292-E95975C09099}"/>
              </a:ext>
            </a:extLst>
          </p:cNvPr>
          <p:cNvSpPr/>
          <p:nvPr/>
        </p:nvSpPr>
        <p:spPr>
          <a:xfrm>
            <a:off x="7730244" y="2285076"/>
            <a:ext cx="3879228" cy="1476785"/>
          </a:xfrm>
          <a:prstGeom prst="roundRect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I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17A31E-6B5B-4915-9F51-8E8693190CB9}"/>
              </a:ext>
            </a:extLst>
          </p:cNvPr>
          <p:cNvSpPr txBox="1"/>
          <p:nvPr/>
        </p:nvSpPr>
        <p:spPr>
          <a:xfrm>
            <a:off x="9096605" y="3432563"/>
            <a:ext cx="23504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Screen-mounted eye tracker</a:t>
            </a:r>
            <a:endParaRPr lang="en-SI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236CA-EF5E-A774-D3ED-212D99EB1DB3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2</a:t>
            </a:fld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3311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9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D7C-ADE3-B51E-813E-F37034CB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Windows and Target</a:t>
            </a:r>
            <a:endParaRPr lang="en-SI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FF26D-31DB-8055-DD76-A9F065ACD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7857" cy="4399330"/>
          </a:xfrm>
        </p:spPr>
        <p:txBody>
          <a:bodyPr>
            <a:normAutofit/>
          </a:bodyPr>
          <a:lstStyle/>
          <a:p>
            <a:pPr/>
            <a:r>
              <a:rPr sz="2400"/>
              <a:t>3-s windows, 25 % overlap</a:t>
            </a:r>
          </a:p>
          <a:p>
            <a:pPr lvl="1"/>
            <a:r>
              <a:rPr sz="2000"/>
              <a:t>Quality filter → 140,531 windows</a:t>
            </a:r>
          </a:p>
          <a:p>
            <a:pPr/>
            <a:r>
              <a:rPr sz="2400"/>
              <a:t>Ratings are person-specific</a:t>
            </a:r>
          </a:p>
          <a:p>
            <a:pPr lvl="1"/>
            <a:r>
              <a:rPr sz="2000"/>
              <a:t>Participant means: 2.2–4.9</a:t>
            </a:r>
          </a:p>
          <a:p>
            <a:pPr/>
            <a:r>
              <a:rPr sz="2400"/>
              <a:t>Binary target</a:t>
            </a:r>
          </a:p>
          <a:p>
            <a:pPr lvl="1"/>
            <a:r>
              <a:rPr sz="2000"/>
              <a:t>Above vs. below the participant's mean</a:t>
            </a:r>
          </a:p>
          <a:p>
            <a:pPr lvl="1"/>
            <a:r>
              <a:rPr sz="2000"/>
              <a:t>Centring fitted without test labels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7CDEA3F-465A-0C05-C8BF-42647A75EB96}"/>
              </a:ext>
            </a:extLst>
          </p:cNvPr>
          <p:cNvGrpSpPr/>
          <p:nvPr/>
        </p:nvGrpSpPr>
        <p:grpSpPr>
          <a:xfrm>
            <a:off x="6926856" y="1690688"/>
            <a:ext cx="4655544" cy="2623457"/>
            <a:chOff x="7198999" y="2166257"/>
            <a:chExt cx="3251287" cy="1800349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5AB5B3AD-B2A4-4C8C-92E2-B46BA78699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9" r="45589"/>
            <a:stretch/>
          </p:blipFill>
          <p:spPr bwMode="auto">
            <a:xfrm>
              <a:off x="7198999" y="2234183"/>
              <a:ext cx="3137206" cy="17324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CAF6E8-8A8B-F598-850A-D346CD86EBD4}"/>
                </a:ext>
              </a:extLst>
            </p:cNvPr>
            <p:cNvSpPr/>
            <p:nvPr/>
          </p:nvSpPr>
          <p:spPr>
            <a:xfrm>
              <a:off x="8556171" y="2166257"/>
              <a:ext cx="1894115" cy="5551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SI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2288750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Four Representations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971800"/>
            <a:ext cx="2377440" cy="1280160"/>
          </a:xfrm>
          <a:prstGeom prst="round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3-s gaze window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5 channels, 60 Hz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600200"/>
            <a:ext cx="3474720" cy="868680"/>
          </a:xfrm>
          <a:prstGeom prst="roundRect">
            <a:avLst/>
          </a:prstGeom>
          <a:solidFill>
            <a:srgbClr val="E2EFDA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Raw signal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600 values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3200400" y="2034540"/>
            <a:ext cx="1005840" cy="157734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80960" y="2034540"/>
            <a:ext cx="1005840" cy="157734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0" y="2697480"/>
            <a:ext cx="347472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Handcrafted features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58–60 features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200400" y="3131820"/>
            <a:ext cx="1005840" cy="48006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3131820"/>
            <a:ext cx="1005840" cy="48006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3794760"/>
            <a:ext cx="3474720" cy="868680"/>
          </a:xfrm>
          <a:prstGeom prst="roundRect">
            <a:avLst/>
          </a:prstGeom>
          <a:solidFill>
            <a:srgbClr val="DDEBF7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GazeMAE (frozen)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256-d 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611880"/>
            <a:ext cx="1005840" cy="61722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80960" y="3611880"/>
            <a:ext cx="1005840" cy="617220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06240" y="4892040"/>
            <a:ext cx="3474720" cy="868680"/>
          </a:xfrm>
          <a:prstGeom prst="roundRect">
            <a:avLst/>
          </a:prstGeom>
          <a:solidFill>
            <a:srgbClr val="FCE4D6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MOMENT (frozen)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1,024-d embedding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3611880"/>
            <a:ext cx="1005840" cy="1714499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680960" y="3611880"/>
            <a:ext cx="1005840" cy="1714499"/>
          </a:xfrm>
          <a:prstGeom prst="line">
            <a:avLst/>
          </a:prstGeom>
          <a:ln w="22225">
            <a:solidFill>
              <a:srgbClr val="7F7F7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2971800"/>
            <a:ext cx="2651760" cy="1280160"/>
          </a:xfrm>
          <a:prstGeom prst="round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0000"/>
                </a:solidFill>
              </a:rPr>
              <a:t>Classifier</a:t>
            </a:r>
          </a:p>
          <a:p>
            <a:pPr algn="ctr"/>
            <a:r>
              <a:rPr sz="1600" b="0">
                <a:solidFill>
                  <a:srgbClr val="595959"/>
                </a:solidFill>
              </a:rPr>
              <a:t>Random Forest / MLP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486400" cy="0"/>
          </a:xfrm>
        </p:spPr>
        <p:txBody>
          <a:bodyPr/>
          <a:lstStyle/>
          <a:p>
            <a:pPr/>
            <a:r>
              <a:rPr sz="2400"/>
              <a:t>Knowledge workers at their own desks</a:t>
            </a:r>
          </a:p>
          <a:p>
            <a:pPr lvl="1"/>
            <a:r>
              <a:rPr sz="2000"/>
              <a:t>17 participants, 657 full workdays</a:t>
            </a:r>
          </a:p>
          <a:p>
            <a:pPr/>
            <a:r>
              <a:rPr sz="2400"/>
              <a:t>Eye tracker, 60 Hz</a:t>
            </a:r>
          </a:p>
          <a:p>
            <a:pPr lvl="1"/>
            <a:r>
              <a:rPr sz="2000"/>
              <a:t>Pupil size, gaze x/y, eye–screen distance</a:t>
            </a:r>
          </a:p>
          <a:p>
            <a:pPr/>
            <a:r>
              <a:rPr sz="2400"/>
              <a:t>Self-report several times a day</a:t>
            </a:r>
          </a:p>
          <a:p>
            <a:pPr lvl="1"/>
            <a:r>
              <a:rPr sz="2000"/>
              <a:t>“Right now I am immersed in my work”</a:t>
            </a:r>
          </a:p>
          <a:p>
            <a:pPr lvl="1"/>
            <a:r>
              <a:rPr sz="2000"/>
              <a:t>0–6 scale, labels the preceding 15 min</a:t>
            </a:r>
          </a:p>
        </p:txBody>
      </p:sp>
      <p:pic>
        <p:nvPicPr>
          <p:cNvPr id="4" name="Picture 3" descr="fig1_descri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03120"/>
            <a:ext cx="5394960" cy="2561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4755801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</a:rPr>
              <a:t>(a) gaze density on screen   (b) engagement ratings;</a:t>
            </a:r>
          </a:p>
          <a:p>
            <a:pPr algn="l"/>
            <a:r>
              <a:rPr sz="1400" b="0" i="1">
                <a:solidFill>
                  <a:srgbClr val="595959"/>
                </a:solidFill>
              </a:rPr>
              <a:t>red ticks = participant means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669280" cy="0"/>
          </a:xfrm>
        </p:spPr>
        <p:txBody>
          <a:bodyPr/>
          <a:lstStyle/>
          <a:p>
            <a:pPr/>
            <a:r>
              <a:rPr sz="2400"/>
              <a:t>Majority baseline, Random Forest, MLP</a:t>
            </a:r>
          </a:p>
          <a:p>
            <a:pPr/>
            <a:r>
              <a:rPr sz="2400"/>
              <a:t>Leave-One-Subject-Out CV</a:t>
            </a:r>
          </a:p>
          <a:p>
            <a:pPr lvl="1"/>
            <a:r>
              <a:rPr sz="2000"/>
              <a:t>17 folds</a:t>
            </a:r>
          </a:p>
          <a:p>
            <a:pPr lvl="1"/>
            <a:r>
              <a:rPr sz="2000"/>
              <a:t>Preprocessing fitted on training subjects only</a:t>
            </a:r>
          </a:p>
          <a:p>
            <a:pPr/>
            <a:r>
              <a:rPr sz="2400"/>
              <a:t>Main measure: balanced accuracy</a:t>
            </a:r>
          </a:p>
          <a:p>
            <a:pPr lvl="1"/>
            <a:r>
              <a:rPr sz="2000"/>
              <a:t>Chance = 0.5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0" y="1783080"/>
            <a:ext cx="4480560" cy="3931920"/>
          </a:xfrm>
          <a:prstGeom prst="rect">
            <a:avLst/>
          </a:prstGeom>
          <a:noFill/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0" y="2011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P01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2029968"/>
            <a:ext cx="32918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57860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P02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596896"/>
            <a:ext cx="32918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314553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P03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163824"/>
            <a:ext cx="32918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71246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42793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P16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4297679"/>
            <a:ext cx="32918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846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</a:rPr>
              <a:t>P17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4864608"/>
            <a:ext cx="3291840" cy="384048"/>
          </a:xfrm>
          <a:prstGeom prst="rect">
            <a:avLst/>
          </a:prstGeom>
          <a:solidFill>
            <a:srgbClr val="F4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5760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</a:rPr>
              <a:t>green = train, orange = test (repeat for every subject)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600200"/>
          <a:ext cx="69494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38160" y="2103120"/>
            <a:ext cx="3566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Best: raw signal</a:t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>0.536 balanced accuracy</a:t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>0.553 ROC-AUC</a:t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>All close to chance</a:t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000000"/>
                </a:solidFill>
              </a:rPr>
              <a:t>SD across subjects: 0.075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People, Not Engagement</a:t>
            </a:r>
          </a:p>
        </p:txBody>
      </p:sp>
      <p:pic>
        <p:nvPicPr>
          <p:cNvPr id="3" name="Picture 2" descr="fig2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7" y="1463040"/>
            <a:ext cx="8138160" cy="41272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63596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95959"/>
                </a:solidFill>
              </a:rPr>
              <a:t>t-SNE, 5,000 windows. Top: by engagement → no structure.   Bottom: by participant → clusters.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Conclusion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Raw signal best, handcrafted close</a:t>
            </a:r>
          </a:p>
          <a:p>
            <a:pPr lvl="1"/>
            <a:r>
              <a:rPr sz="2000"/>
              <a:t>Frozen GazeMAE and MOMENT did not help</a:t>
            </a:r>
          </a:p>
          <a:p>
            <a:pPr/>
            <a:r>
              <a:rPr sz="2400"/>
              <a:t>Engagement across people is hard to predict</a:t>
            </a:r>
          </a:p>
          <a:p>
            <a:pPr lvl="1"/>
            <a:r>
              <a:rPr sz="2000"/>
              <a:t>Results near chance, large subject variability</a:t>
            </a:r>
          </a:p>
          <a:p>
            <a:pPr/>
            <a:r>
              <a:rPr sz="2400"/>
              <a:t>Practical: start with raw or handcrafted</a:t>
            </a:r>
          </a:p>
          <a:p>
            <a:pPr/>
            <a:r>
              <a:rPr sz="2400"/>
              <a:t>Future work</a:t>
            </a:r>
          </a:p>
          <a:p>
            <a:pPr lvl="1"/>
            <a:r>
              <a:rPr sz="2000"/>
              <a:t>Fine-tune encoders on office gaze</a:t>
            </a:r>
          </a:p>
          <a:p>
            <a:pPr lvl="1"/>
            <a:r>
              <a:rPr sz="2000"/>
              <a:t>Personalisation, longer windows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FF0000"/>
                </a:solidFill>
              </a:rPr>
              <a:t>Results: All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63040"/>
                <a:gridCol w="1463040"/>
                <a:gridCol w="146304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Bal.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Acc.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Majority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.524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Raw,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.536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.528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Raw,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.472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.542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Handcrafted,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.528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Handcrafted,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.531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GazeMAE,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.540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GazeMAE,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.532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MOMENT,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.521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0"/>
                        <a:t>MOMENT, 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.507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</a:rPr>
              <a:t>LOSO, mean over held-out participants; SD of balanced accuracy across participants. Best per metric in bold.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4A06F-6080-B74F-D5BF-602B9F5EF10F}"/>
              </a:ext>
            </a:extLst>
          </p:cNvPr>
          <p:cNvSpPr txBox="1"/>
          <p:nvPr/>
        </p:nvSpPr>
        <p:spPr>
          <a:xfrm>
            <a:off x="11890314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4E19981-2B0B-5147-BEB6-6E6E3E72FEB4}" type="slidenum">
              <a:rPr lang="en-SI" smtClean="0"/>
              <a:t>4</a:t>
            </a:fld>
            <a:endParaRPr lang="en-SI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3A4C867208A5F4BA8FE5E93871EF39F" ma:contentTypeVersion="3" ma:contentTypeDescription="Creare un nuovo documento." ma:contentTypeScope="" ma:versionID="bbff9853bc7d3039c83b4aad08277b4b">
  <xsd:schema xmlns:xsd="http://www.w3.org/2001/XMLSchema" xmlns:xs="http://www.w3.org/2001/XMLSchema" xmlns:p="http://schemas.microsoft.com/office/2006/metadata/properties" xmlns:ns2="45b4d168-3a75-47f5-925a-d6bd8edd0fbe" targetNamespace="http://schemas.microsoft.com/office/2006/metadata/properties" ma:root="true" ma:fieldsID="1a9c00e91302392937d776042e3c01a5" ns2:_="">
    <xsd:import namespace="45b4d168-3a75-47f5-925a-d6bd8edd0f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4d168-3a75-47f5-925a-d6bd8edd0f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422138-64F9-4681-BEF3-CCA68D050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b4d168-3a75-47f5-925a-d6bd8edd0f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C63C28-2F9F-43BD-A184-C8F0A0EF80A6}">
  <ds:schemaRefs>
    <ds:schemaRef ds:uri="45b4d168-3a75-47f5-925a-d6bd8edd0fb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B134780-4272-4103-81DD-7860129DD3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37360</TotalTime>
  <Words>967</Words>
  <Application>Microsoft Macintosh PowerPoint</Application>
  <PresentationFormat>Widescreen</PresentationFormat>
  <Paragraphs>131</Paragraphs>
  <Slides>11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LinLibertineT</vt:lpstr>
      <vt:lpstr>Wingdings</vt:lpstr>
      <vt:lpstr>Office Theme</vt:lpstr>
      <vt:lpstr>Feature-Based Emotion Classification Using Eye-Tracking Data</vt:lpstr>
      <vt:lpstr>Introduction</vt:lpstr>
      <vt:lpstr>Data</vt:lpstr>
      <vt:lpstr>Data Preprocessing</vt:lpstr>
      <vt:lpstr>Methodology</vt:lpstr>
      <vt:lpstr>Leave-One-Subject-Out CV</vt:lpstr>
      <vt:lpstr>10-Fold CV variants</vt:lpstr>
      <vt:lpstr>Feature analysis</vt:lpstr>
      <vt:lpstr>Results </vt:lpstr>
      <vt:lpstr>Conclusion and discussion</vt:lpstr>
      <vt:lpstr>Results LOSO per-subject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Prepoznavanje načina gibanja s pomočjo telefonskih senzorjev in umetne inteligence</dc:title>
  <dc:creator>Mitja Lustrek</dc:creator>
  <cp:lastModifiedBy>Tomi Božak</cp:lastModifiedBy>
  <cp:revision>886</cp:revision>
  <cp:lastPrinted>2023-09-25T05:41:15Z</cp:lastPrinted>
  <dcterms:created xsi:type="dcterms:W3CDTF">2018-09-24T12:49:10Z</dcterms:created>
  <dcterms:modified xsi:type="dcterms:W3CDTF">2024-10-09T20:01:43Z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0x010100D3A4C867208A5F4BA8FE5E93871EF39F</vt:lpwstr>
  </property>
</Properties>
</file>