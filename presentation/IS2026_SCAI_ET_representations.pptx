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16324F"/>
            </a:solidFill>
            <a:effectLst/>
          </c:spPr>
          <c:invertIfNegative val="0"/>
          <c:dLbls>
            <c:numFmt formatCode="+0.000;-0.000;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32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Raw</c:v>
                  </c:pt>
                  <c:pt idx="1">
                    <c:v>Handcrafted</c:v>
                  </c:pt>
                  <c:pt idx="2">
                    <c:v>GazeMAE</c:v>
                  </c:pt>
                  <c:pt idx="3">
                    <c:v>MOMENT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0.036</c:v>
                </c:pt>
                <c:pt idx="1">
                  <c:v>0.008</c:v>
                </c:pt>
                <c:pt idx="2">
                  <c:v>0.01</c:v>
                </c:pt>
                <c:pt idx="3">
                  <c:v>0.001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E0A23B"/>
            </a:solidFill>
            <a:effectLst/>
          </c:spPr>
          <c:invertIfNegative val="0"/>
          <c:dLbls>
            <c:numFmt formatCode="+0.000;-0.000;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32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Raw</c:v>
                  </c:pt>
                  <c:pt idx="1">
                    <c:v>Handcrafted</c:v>
                  </c:pt>
                  <c:pt idx="2">
                    <c:v>GazeMAE</c:v>
                  </c:pt>
                  <c:pt idx="3">
                    <c:v>MOMENT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0.034</c:v>
                </c:pt>
                <c:pt idx="1">
                  <c:v>0.021</c:v>
                </c:pt>
                <c:pt idx="2">
                  <c:v>0.005</c:v>
                </c:pt>
                <c:pt idx="3">
                  <c:v>-0.003</c:v>
                </c:pt>
              </c:numCache>
            </c:numRef>
          </c:val>
        </c:ser>
        <c:dLbls>
          <c:numFmt formatCode="+0.000;-0.000;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632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632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45"/>
          <c:min val="-0.01"/>
        </c:scaling>
        <c:delete val="0"/>
        <c:axPos val="l"/>
        <c:majorGridlines>
          <c:spPr>
            <a:ln w="9525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Balanced accuracy − 0.500 (chance)</a:t>
                </a:r>
              </a:p>
            </c:rich>
          </c:tx>
          <c:layout/>
          <c:overlay val="0"/>
        </c:title>
        <c:numFmt formatCode="+0.00;-0.00;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6324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~0:30 (cumulative 0:30)
• Good morning/afternoon, I'm Tomi Božak from the Jožef Stefan Institute; joint work with Zoja Anžur and Gašper Slapničar.
• One-sentence pitch: before you train any model on eye-tracking data you have to decide how to represent a gaze window — we compared four common options under one fair, leakage-safe protocol.
• Spoiler to keep in mind: the simplest option, the raw signal, did best — but everything was close to chance.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~1:00 (cumulative 1:30)
• Knowledge work: engagement — specifically immersion in the task — changes during the day, and logs of app usage tell us little about it.
• Eye tracking is attractive because it is continuous and passive: pupil size, fixations, saccades, blinks, gaze position — the user does nothing.
• Our target comes from experience sampling: participants are prompted during the day and answer "Right now I am immersed in my work" on a 0–6 scale — rated in the moment, not recalled later.
• That single item is what we try to predict from gaze.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~1:15 (cumulative 2:45)
• A window of gaze data can reach a classifier in at least four ways — go left to right.
• Raw: just the five tracker channels, resampled and flattened — no domain knowledge, high dimensional.
• Handcrafted: the classic ocular features — blinks, fixations, saccades, pupil — interpretable, from our earlier work.
• Two learned options, both used frozen, out of the box: GazeMAE is gaze-specific, MOMENT is a general time-series foundation model.
• Key point: costs differ a lot, but published results use different windows, labels and — most importantly — validation protocols, so they cannot be compared.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~0:30 (cumulative 3:15)
• Read the question: which representation best supports inferring momentary engagement in people the model has never seen?
• "Unseen" is the point — a deployed system meets new users, so we test on held-out participants.
• Everything else is held fixed: same windows, same binary target, same folds. Only the representation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~1:00 (cumulative 4:15)
• Real-world data: knowledge workers recorded at their own desks over full working days — not a lab task.
• 17 participants, 657 workday recordings, 19–79 recordings per person.
• Labels: each experience-sampling answer is assigned to the 15 minutes before the prompt; only those labelled intervals are used.
• Windows are 3 s with 25 % overlap; quality thresholds are permissive because tracking loss is frequent in unconstrained office work.
• Result: about 140 thousand windows — roughly 2 % of everything recorded. Data collection is ongoing; dataset not public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~1:15 (cumulative 5:30)
• Left: gaze concentrates at the screen centre but covers the whole display — 94.7 % of samples are on screen.
• Right: the rating distribution; the red ticks are the individual participant means — from 2.2 to 4.9 on a 0–6 scale.
• So one person's "4" is another person's "2". An absolute cut-off would mostly learn identity.
• We therefore centre ratings per participant, inside each fold. The held-out person is centred with the average of the training participants' means, so no test labels leak into the threshold.
• Binary target: above vs. below centre; 57.9 % positive overall, but 0–95 % depending on the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~1:00 (cumulative 6:30)
• Walk the pipeline left to right.
• All four exports are joined on one window identifier — every model sees exactly the same windows.
• Everything data-dependent — feature filtering, imputation, standardisation — is fitted on training participants only.
• Classifiers: majority baseline, random forest, and an MLP. Frozen encoders: only the classifier on top is trained.
• Leave-one-subject-out: 17 folds, the test person is never in training.
• Why balanced accuracy: positive rates differ strongly between people; balanced accuracy has chance at 0.5 everywhere. One participant had only one class, so 16 folds for balanced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~1:45 (cumulative 8:15)
• The chart shows balanced accuracy minus chance — so zero means no better than guessing.
• Raw signals are highest with both classifiers: 0.536 balanced accuracy with the random forest, 0.534 with the MLP; the MLP on raw also has the best AUC, 0.553, and best macro-F1.
• Handcrafted features come next overall — 0.521 with the MLP. GazeMAE is just above chance; MOMENT is at chance with both classifiers.
• Be honest about the size: the best margin is 3.6 points, and the spread across participants (SD 0.075) is larger than that margin and larger than the gap between raw and handcrafted.
• Both classifiers put raw first and MOMENT last; the two middle ones swap — so we don't claim an order between handcrafted and GazeMAE.
• (If asked: full table is in the backup slides.)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~1:00 (cumulative 9:15)
• Same four representations, projected to 2-D with t-SNE, same 5,000 windows.
• Top row, coloured by engagement: no region follows the rating — in raw or in the learned embeddings.
• Bottom row, same projections coloured by participant: raw forms clear per-person patches; handcrafted and GazeMAE weaker; MOMENT almost uniform.
• Message: the most visible structure in gaze windows is the person, not their engagement — which is exactly why subject-disjoint evaluation matters.
• Caveat: projections are exploratory; we don't draw conclusions about separability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~1:15 (cumulative 10:30)
• Our interpretation for the encoders: a domain mismatch. GazeMAE learned from controlled viewing experiments; MOMENT from generic time-series benchmarks. Neither has seen day-long, spontaneous office gaze with dropouts and different monitors.
• Important scope: we only tested frozen encoders — the out-of-the-box setting a practitioner tries first. Fine-tuning may change the picture.
• Practical guidance: start with raw windows — cheapest pipeline. Keep handcrafted features in mind when you need interpretability. Don't assume a frozen general-purpose encoder will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~1:00 (cumulative 11:30)
• Limitations, briefly: a single, still-growing dataset of 17 people; the label is one noisy self-report spread over 15 minutes; overlapping windows mean the effective sample is smaller than 140k.
• Also one windowing scheme, one seed and two specific checkpoints — the ranking is preliminary guidance, not a definitive benchmark.
• Next: fine-tune the encoders on office gaze (GazeMAE came closest to handcrafted), personalised calibration for new users, and longer windows / aggregated targets that match how people actually report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~0:45 (cumulative ~12:15)
• Three things to remember.
• One: under a fair, subject-disjoint protocol, the simplest representation — raw gaze windows — gave the best observed results.
• Two: frozen pretrained encoders did not help, despite costing more.
• Three: the task itself is hard in the wild — person-to-person variation is bigger than the differences between representations.
• Thank the audience and the funders (ARIS N1-0319, SNSF 214991 — Weave project).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— show only if asked.
• Table 1 of the paper. Bold = best per metric column.
• GazeMAE RF has the second-best plain accuracy (.540), but plain accuracy partly reflects each participant's base rate, which is why it is secondary.
• Rounded gap raw RF vs best handcrafted = .536 − .521 = .015 (0.0156 at full precision).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— show only if asked.
• Likely questions: why GazeMAE rescaling (the encoder expects 35 px per degree; displays and viewing distances differ between participants); why MOMENT needs no rescaling (RevIN per-window standardisation).
• Physical monitor sizes are not in the data — standard monitor sizes per resolution were assumed, combined with measured eye–screen distance.
• Persistence: 0.999 accuracy, 0.960 balanced accuracy, 0.965 macro-F1 — shows labels are highly autocorrelated because one answer covers 15 minutes; it uses the participant's own labels, so it is not a competitor to the LOSO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_DARK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Božak, Anžur &amp; Slapničar · SCAI, Information Society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_TITLE_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Božak, Anžur &amp; Slapničar · SCAI, Information Society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463040"/>
            <a:ext cx="1106424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1F4467"/>
          </a:solidFill>
          <a:ln w="12700">
            <a:solidFill>
              <a:srgbClr val="1F44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2286000"/>
            <a:ext cx="1463040" cy="1463040"/>
          </a:xfrm>
          <a:prstGeom prst="ellipse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38360" y="2697480"/>
            <a:ext cx="640080" cy="64008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SCAI · Information Society 2026 · Ljubljana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32588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of Eye-Tracking Representations for Engagement Inference in Knowledge Workers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Tomi Božak, Zoja Anžur, Gašper Slapničar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Jožef Stefan Institute · Jožef Stefan International Postgraduate School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852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29th International Multiconference Information Society · 5–9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eye tracking for engagement at work?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822960" cy="82296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814170"/>
            <a:ext cx="395021" cy="3950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5819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fluctuates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98424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Momentary immersion changes within a working day and is barely visible in application logs.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822960" cy="82296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10" y="3277210"/>
            <a:ext cx="395021" cy="39502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30449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is continuous and non-intrusive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344728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screen-mounted tracker gives pupil size, gaze position, fixations, saccades and blinks without any user action.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4526280"/>
            <a:ext cx="822960" cy="82296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4740250"/>
            <a:ext cx="395021" cy="39502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45079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systems need the state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491032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systems that adapt to the user need evidence of their momentary psychological state.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406640" y="1600200"/>
            <a:ext cx="4206240" cy="4023360"/>
          </a:xfrm>
          <a:prstGeom prst="roundRect">
            <a:avLst>
              <a:gd name="adj" fmla="val 340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77240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(experience sampling)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0" y="23774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“Right now I am immersed in my work”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0" y="40690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in situ on a 0–6 scale, several times per working day. We call it the engagement rating.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any model: how do you represent a gaze window?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197327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signals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272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600-d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channels (pupil L/R, gaze x/y, eye–screen distance), resampled to 120 samples and flattened.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9560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cost: Lowest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64992" y="15087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39312" y="1783080"/>
            <a:ext cx="731520" cy="73152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507" y="197327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31272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 → 58–60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36118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Ocular blink, fixation, saccade, pupil, distance and missingness statistics; filtered per fold.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3639312" y="49560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cost: Medium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81344" y="15087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55664" y="1783080"/>
            <a:ext cx="731520" cy="73152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859" y="197327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55664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GazeMAE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6455664" y="31272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256-d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6455664" y="36118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gaze-specific autoencoder on position + velocity; kept frozen.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6455664" y="49560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cost: High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997696" y="150876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272016" y="1783080"/>
            <a:ext cx="731520" cy="73152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2211" y="1973275"/>
            <a:ext cx="351130" cy="35113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72016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9272016" y="31272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1,024-d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9272016" y="36118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general time-series foundation model (MOMENT-1-large); kept frozen.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9272016" y="49560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cost: High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differ in effort, storage and compute — yet are rarely compared on the same windows, labels and split.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eye-tracking representation supports the most reliable inference of self-reported momentary engagement in unseen knowledge workers?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4069080"/>
            <a:ext cx="777240" cy="777240"/>
          </a:xfrm>
          <a:prstGeom prst="ellipse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2711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4069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3-s windows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434840" y="4069080"/>
            <a:ext cx="777240" cy="777240"/>
          </a:xfrm>
          <a:prstGeom prst="ellipse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922" y="4271162"/>
            <a:ext cx="373075" cy="3730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94960" y="4069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binary target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138160" y="4069080"/>
            <a:ext cx="777240" cy="777240"/>
          </a:xfrm>
          <a:prstGeom prst="ellipse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242" y="4271162"/>
            <a:ext cx="373075" cy="37307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98280" y="4069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leave-one-subject-out folds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comparison: only the representation changes.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knowledge workers in the wild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64992" y="15544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6432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657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56432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full-workday recordings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81344" y="15544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2784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140,531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272784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3-s windows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97696" y="15544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89136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Hz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089136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Tobii tracker, 5 channels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11064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at participants' own workplace during their normal routine (multimodal study; eye tracking only here).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Experience-sampling prompts several times per day; each answer labels the preceding 15 minutes of recording.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 windows, 2.25-s step (25 % overlap); kept if ≥ 30 % valid frames and ≥ 32 valid frames.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windows ≈ 2 % of all recorded windows; 2,136–25,447 per participant. Dataset not yet public.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ratings are person-specific</a:t>
            </a:r>
            <a:endParaRPr lang="en-US" sz="3200" dirty="0"/>
          </a:p>
        </p:txBody>
      </p:sp>
      <p:pic>
        <p:nvPicPr>
          <p:cNvPr id="3" name="Image 0" descr="/home/user/ET-representations-for-IS-paper-2026/presentation/fig1_descrip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766560" cy="32124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4976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gaze density on the normalised display · (b) rating distribution; red ticks = the 17 participant means.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726680" y="1645920"/>
            <a:ext cx="685800" cy="685800"/>
          </a:xfrm>
          <a:prstGeom prst="ellipse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988" y="18242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95360" y="1691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span 2.2–4.9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726680" y="260604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absolute threshold would mostly encode who the participant is.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each fold, centre every training participant's ratings on their own mean.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the held-out participant with the mean of training means — no test labels used.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centred rating &gt; 0 → 57.9 % positive overall (0–95 % per participant).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Leakage-safe evaluation protocol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51560" y="1691640"/>
            <a:ext cx="1005840" cy="10058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78" y="195315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880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s, joined on one window ID across all four exports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2532888" y="2084832"/>
            <a:ext cx="306324" cy="219456"/>
          </a:xfrm>
          <a:prstGeom prst="rightArrow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14700" y="1691640"/>
            <a:ext cx="1005840" cy="10058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18" y="1953158"/>
            <a:ext cx="482803" cy="4828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1780" y="2880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representations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2811780" y="36118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· Handcrafted · GazeMAE · MOMENT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796028" y="2084832"/>
            <a:ext cx="306324" cy="219456"/>
          </a:xfrm>
          <a:prstGeom prst="rightArrow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577840" y="1691640"/>
            <a:ext cx="1005840" cy="10058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358" y="1953158"/>
            <a:ext cx="482803" cy="482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74920" y="2880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 preprocessing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5074920" y="36118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imputation, scaling fitted on training participants only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7059168" y="2084832"/>
            <a:ext cx="306324" cy="219456"/>
          </a:xfrm>
          <a:prstGeom prst="rightArrow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840980" y="1691640"/>
            <a:ext cx="1005840" cy="10058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498" y="1953158"/>
            <a:ext cx="482803" cy="48280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338060" y="2880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predictors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7338060" y="36118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baseline · Random forest (300 trees) · MLP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9322308" y="2084832"/>
            <a:ext cx="306324" cy="219456"/>
          </a:xfrm>
          <a:prstGeom prst="rightArrow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0104120" y="1691640"/>
            <a:ext cx="1005840" cy="1005840"/>
          </a:xfrm>
          <a:prstGeom prst="ellipse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5638" y="1953158"/>
            <a:ext cx="482803" cy="482803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601200" y="2880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Leave-one-subject-out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9601200" y="36118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folds; test participant never seen in training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548640" y="498348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balanced accuracy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is fixed at 0.500 in every fold, unlike plain accuracy, which tracks each participant's base rate. Secondary: accuracy, macro-F1, ROC-AUC. Unweighted mean over participants (16 two-class folds).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signals ranked first — but all results are near chance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7223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046720" y="15087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7532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0.536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9921240" y="16459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balanced accuracy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random forest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046720" y="3081528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3218688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0.553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921240" y="3218688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MLP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46720" y="4654296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4791456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A5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0.075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9921240" y="4791456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across participants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the 0.036 margin over chance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representations encode: people, not engagement</a:t>
            </a:r>
            <a:endParaRPr lang="en-US" sz="3200" dirty="0"/>
          </a:p>
        </p:txBody>
      </p:sp>
      <p:pic>
        <p:nvPicPr>
          <p:cNvPr id="3" name="Image 0" descr="/home/user/ET-representations-for-IS-paper-2026/paper/figures/fig2_ts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229600" cy="417358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46351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of a common sample of 5,000 windows. Top: coloured by engagement rating. Bottom: coloured by participant.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098280" y="1600200"/>
            <a:ext cx="594360" cy="594360"/>
          </a:xfrm>
          <a:prstGeom prst="ellipse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814" y="175473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829800" y="15544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 follows the engagement rating in any representation.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9098280" y="3291840"/>
            <a:ext cx="594360" cy="594360"/>
          </a:xfrm>
          <a:prstGeom prst="ellipse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814" y="3446374"/>
            <a:ext cx="285293" cy="28529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829800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patches: clear in raw, weaker in handcrafted and GazeMAE, near-uniform in MOMENT.</a:t>
            </a:r>
            <a:endParaRPr lang="en-US" sz="1450" dirty="0"/>
          </a:p>
        </p:txBody>
      </p:sp>
      <p:sp>
        <p:nvSpPr>
          <p:cNvPr id="11" name="Text 6"/>
          <p:cNvSpPr txBox="1"/>
          <p:nvPr/>
        </p:nvSpPr>
        <p:spPr>
          <a:xfrm>
            <a:off x="9098280" y="5486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view — not evidence of separability.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 gain from frozen encoders — and what to 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4617720"/>
          </a:xfrm>
          <a:prstGeom prst="roundRect">
            <a:avLst>
              <a:gd name="adj" fmla="val 237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9613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83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mismatch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GazeMAE: pretrained on controlled stimulus-viewing corpora.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MOMENT: pretrained on generic time-series benchmarks.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gaze: day-long, spontaneous, with dropouts, idle stretches and heterogeneous displays.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result concerns frozen transfer only — fine-tuning is untested.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1554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guidance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355080" y="2240280"/>
            <a:ext cx="685800" cy="68580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388" y="24185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2194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signals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258775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pipeline: no feature engineering, checkpoint or encoder pass.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355080" y="3566160"/>
            <a:ext cx="685800" cy="68580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374446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2376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features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7223760" y="391363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behind and interpretable; effective on related targets in earlier work.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355080" y="4892040"/>
            <a:ext cx="685800" cy="685800"/>
          </a:xfrm>
          <a:prstGeom prst="ellipse">
            <a:avLst/>
          </a:prstGeom>
          <a:solidFill>
            <a:srgbClr val="D6DCE3"/>
          </a:solidFill>
          <a:ln w="12700">
            <a:solidFill>
              <a:srgbClr val="D6DCE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507034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2376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general encoder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223760" y="523951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 as a default choice 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4617720"/>
          </a:xfrm>
          <a:prstGeom prst="roundRect">
            <a:avLst>
              <a:gd name="adj" fmla="val 237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6DCE3"/>
          </a:solidFill>
          <a:ln w="12700">
            <a:solidFill>
              <a:srgbClr val="D6DCE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9613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83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unpublished, still-growing dataset; 17 participants.</a:t>
            </a:r>
            <a:endParaRPr lang="en-US" sz="17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one noisy self-report item, assigned to a 15-min interval and binarised.</a:t>
            </a:r>
            <a:endParaRPr lang="en-US" sz="17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windows and repeated labels shrink the effective sample size.</a:t>
            </a:r>
            <a:endParaRPr lang="en-US" sz="17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windowing scheme, one seed, one QC rule set, two public checkpoints.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394960" cy="4617720"/>
          </a:xfrm>
          <a:prstGeom prst="roundRect">
            <a:avLst>
              <a:gd name="adj" fmla="val 2376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1783080"/>
            <a:ext cx="685800" cy="685800"/>
          </a:xfrm>
          <a:prstGeom prst="ellipse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19613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1783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6974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encoders on office gaze — starting with GazeMAE.</a:t>
            </a:r>
            <a:endParaRPr lang="en-US" sz="17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personalisation for new users.</a:t>
            </a:r>
            <a:endParaRPr lang="en-US" sz="17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windows and aggregated targets matching how engagement is reported.</a:t>
            </a:r>
            <a:endParaRPr lang="en-US" sz="17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comparison on further datasets.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Take-home messages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685800" cy="685800"/>
          </a:xfrm>
          <a:prstGeom prst="ellipse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64592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leakage-safe, subject-disjoint protocol, raw gaze windows gave the highest observed result (0.536 balanced accuracy, 0.553 ROC-AUC).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685800" cy="685800"/>
          </a:xfrm>
          <a:prstGeom prst="ellipse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83464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GazeMAE and MOMENT embeddings did not improve on raw signals, despite higher preprocessing and compute cost.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069080"/>
            <a:ext cx="685800" cy="685800"/>
          </a:xfrm>
          <a:prstGeom prst="ellipse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069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402336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Cross-person engagement inference from 3-s office gaze is hard: between-participant spread exceeds the differences between representations.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394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5440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tb85088@student.uni-lj.si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Backup: full leave-one-subject-out results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baseline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.326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Raw, RF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+.036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Raw, MLP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+.034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.472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.542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Handcrafted, RF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+.008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.035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Handcrafted, MLP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+.021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.535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GazeMAE, RF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+.010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GazeMAE, MLP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+.005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.447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MOMENT, RF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+.001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.380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MOMENT, MLP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−.003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.362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is primary (chance 0.500); Δ = paired improvement over the majority baseline; SD across participants. All metrics except accuracy over the 16 two-class folds. Dimensionality: raw 600, handcrafted 58–60, GazeMAE 256, MOMENT 1,024. Best per metric in bold.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Backup: representation details and sanity check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5 channels linearly resampled to 120 samples (whole 3-s window), flattened to 600-d; gaze normalised to [0,1] per display resolution.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Handcrafted: offline event detection (blinks from 90–400 ms gaps, I-DT fixations, saccades between fixations); per-fold filter drops &gt;60 % missing, zero variance, correlation &gt; 0.8 → 58–60 of 181 features.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GazeMAE: public micro–macro checkpoints, position + velocity at 500 Hz, rescaled to 35 px per degree of visual angle; 128 + 128 = 256-d.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MOMENT-1-large: input length 512, mean pooling, 1,024-d; RevIN standardises each channel per window.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1028–512–256–128–64, GELU, layer norm, Adam (lr 2e-4, wd 1e-3), early stopping on a 20 % stratified split. Single seed.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63840" y="1463040"/>
            <a:ext cx="3749040" cy="4663440"/>
          </a:xfrm>
          <a:prstGeom prst="roundRect">
            <a:avLst>
              <a:gd name="adj" fmla="val 292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check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2194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30632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of carrying the last label forward within recordings (1,434 blocks, 13 two-class participants).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3891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constant over each 15-min interval by construction — not comparable with the cross-person results.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Comparison of Eye-Tracking Representations for Engagement Inference in Knowledge Workers</dc:title>
  <dc:subject>PptxGenJS Presentation</dc:subject>
  <dc:creator>Tomi Božak, Zoja Anžur, Gašper Slapničar</dc:creator>
  <cp:lastModifiedBy>Tomi Božak, Zoja Anžur, Gašper Slapničar</cp:lastModifiedBy>
  <cp:revision>1</cp:revision>
  <dcterms:created xsi:type="dcterms:W3CDTF">2026-09-30T10:19:14Z</dcterms:created>
  <dcterms:modified xsi:type="dcterms:W3CDTF">2026-09-30T10:19:14Z</dcterms:modified>
</cp:coreProperties>
</file>